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1500000"/>
            <a:ext cx="7772400" cy="1470025"/>
          </a:xfrm>
        </p:spPr>
        <p:txBody>
          <a:bodyPr anchor="b"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SoC Verification and Automation at Arm Ltd.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85800" y="3200000"/>
            <a:ext cx="7772400" cy="2800000"/>
          </a:xfrm>
        </p:spPr>
        <p:txBody>
          <a:bodyPr/>
          <a:p>
            <a:r>
              <a:rPr lang="en-US" sz="2000" dirty="0"/>
              <a:t>Final Internship Presentation</a:t>
            </a:r>
          </a:p>
          <a:p>
            <a:r>
              <a:rPr lang="en-US" sz="2000" dirty="0"/>
              <a:t/>
            </a:r>
          </a:p>
          <a:p>
            <a:r>
              <a:rPr lang="en-US" sz="2000" dirty="0"/>
              <a:t>Reyansh Gahlot | 102206005</a:t>
            </a:r>
          </a:p>
          <a:p>
            <a:r>
              <a:rPr lang="en-US" sz="2000" dirty="0"/>
              <a:t>B.E. Electronics &amp;amp; Communication Engineering</a:t>
            </a:r>
          </a:p>
          <a:p>
            <a:r>
              <a:rPr lang="en-US" sz="2000" dirty="0"/>
              <a:t>Thapar Institute of Engineering &amp;amp; Technology, Patiala</a:t>
            </a:r>
          </a:p>
          <a:p>
            <a:r>
              <a:rPr lang="en-US" sz="2000" dirty="0"/>
              <a:t/>
            </a:r>
          </a:p>
          <a:p>
            <a:r>
              <a:rPr lang="en-US" sz="2000" dirty="0"/>
              <a:t>January 2026 – June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Organisation &amp; Team Overview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1: Status Register Checker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2: Compile Warning Resolution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3: CMN Clock Controller Integration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4: AI Agent for HW Code Generation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Results &amp; Impact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SDG Alignment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Conclusion &amp; Future Scope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Organisation Overview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Arm Ltd. – World's leading semiconductor IP company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Bangalore Design Centre – CPU Verification Group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Interconnect Team – CMN (Coherent Mesh Network) verification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~50 engineers across verification, design, architecture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Methodology: UVM 1.2 + SystemVerilog + Constrained Random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Tools: Synopsys VCS, Verdi, VC Formal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Coherent Mesh Network (CMN)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Arm's scalable interconnect IP for multi-core SoCs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2D mesh topology: Cross-Points (XP) + Functional Nodes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Protocols: CHI (coherent), AXI4 (high-BW), APB (peripheral)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Node types: RN-F (CPU), HN-F (Home), SN-F (Memory), RN-I (I/O)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Features: System Level Cache, Snoop Filter, QoS, Power Mgmt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Verification challenge: Combinatorial routing paths + coherency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Project 1: Status Register Checker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Problem: Manual register verification – incomplete, unscalable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Solution: Automated UVM checker with Python log parser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Architecture: Log Parser → sim_opts → UVM Scoreboard → Pass/Fail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Key Innovation: Timestamp-keyed comparison (not FIFO)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Integration: UVM factory override – zero existing code changes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Result: Found pre-existing bug undetected across multiple tape-outs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Status Register Checker – Technical Details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Python Parser: Streams multi-GB logs, compiled regex, O(1) lookup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Throughput: ~500 MB/s (10 GB file in ~20 seconds)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UVM Scoreboard: Associative array indexed by simulation time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Timestamp sync: Calibration write + offset computation + tolerance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Bug found: TRACE_ACTIVE bit not deasserting on buffer-full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50,000+ automated checks per regression, zero false positives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Project 2: Compile Warning Resolution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Goal: Zero-warning compilation across all 8 build configurations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Scope: 153 warnings across 47 files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Categories: Unused vars (42), Type conv (35), Deprecated (28),
  Uninitialised (23), Port width (16), Unreachable (9)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Methodology: 6-step process (Categorise → RCA → Fix → Test → Regress → Review)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Lesson: Port-width fix caused regression – always check ALL configs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Outcome: Zero warnings, CI policy adopted to block new warnings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Project 3: CMN Clock Controller Integration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Goal: Verify clock controller for dynamic power management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5 clock domains: mesh, device, SLC, debug, always-on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6-state FSM: RUNNING → GATE_REQ → GATED → WAKE_REQ → RESTORING → RUNNING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14 CDC crossings verified (structural + functional + formal)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Q-Channel protocol interface to system PMU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Constraints: Wake-up ≤32 cycles, quiescence timeout 1000 cycles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Clock Controller – Bug Discoveries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Bug 1: Missing 2-FF synchroniser on CDC-12 path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clk_debug → clk_mesh status signal had no sync stage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Found by structural CDC analysis (VC Formal)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Confirmed via metastability injection simulation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Bug 2: Incorrect snoop priority in FSM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Snoop during GATE_REQUEST → FSM aborts correctly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But QACCEPTn not deasserted → PMU state corruption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Could cause permanent clock-on (power waste)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Both Severity 2 – would affect silicon in power scenarios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Project 4: AI Agent for HW Code Generation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Problem: New RTL → 2-3 days manual programming code writing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Solution: 4-stage AI pipeline (automated, validated)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Stage 1: RTL Parsing (extract register map from SystemVerilog)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Stage 2: Context Retrieval (RAG from spec database)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Stage 3: LLM Code Generation (structured prompts)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Stage 4: Validation (cross-check addresses against RTL)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Integrated into CI/CD – triggers on RTL commit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AI Agent – Results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Time per IP block: 2-3 days → &lt; 1 hour (40x faster)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Register address errors: 2-5 per block → 0 (100% elimination)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Code coverage: 85-90% → 99% (+10-14%)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Review iterations: 3-4 rounds → 1-2 rounds (60% reduction)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Deployed on 3 IP blocks: 4,200 lines generated, 0 address errors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Key: Ground-truth validation prevents hallucination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Human-in-the-loop: PR for engineer review, not auto-commit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Summary of Results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1: 50K+ automated checks/regression, 1 pre-existing bug found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2: 153 warnings → 0, zero-warning CI policy adopted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3: 14 CDC paths verified, 2 RTL bugs found (Sev 2)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Project 4: 40x time reduction, 0 address errors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Total bugs found: 3 (all Severity 2 – would affect silicon)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Estimated cost avoidance: $3-10 million (re-spin prevention)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Engineer hours saved: ~200/year via AI agent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Impact Analysis – UN SDGs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SDG 9: Industry, Innovation &amp; Infrastructure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Verified silicon powers global digital infrastructure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AI agent fosters innovation in semiconductor workflows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Reliable processors for healthcare, finance, transport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SDG 12: Responsible Consumption &amp; Production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3 bugs caught pre-silicon → avoids wasteful re-spins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Clock gating → 15-30% dynamic power reduction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Extends device battery life → reduces e-waste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Bug at simulation: $1 | at fabrication: $1M | deployed: $1B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Challenges &amp; Learnings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Technical: 800-page CHI spec, timestamp sync iterations, CDC formal tools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Process: 500K+ line codebase, regression incident on 'trivial' fix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Professional: Agile workflow, code review discipline, multi-stakeholder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Key Learnings:</a:t>
            </a:r>
          </a:p>
          <a:p>
            <a:pPr lvl="1" marL="457200" indent="-228600"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/>
              </a:rPr>
              <a:t>Automated infrastructure provides lasting value (amortised ROI)</a:t>
            </a:r>
          </a:p>
          <a:p>
            <a:pPr lvl="1" marL="457200" indent="-228600"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/>
              </a:rPr>
              <a:t>Always validate across ALL configurations</a:t>
            </a:r>
          </a:p>
          <a:p>
            <a:pPr lvl="1" marL="457200" indent="-228600"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/>
              </a:rPr>
              <a:t>AI + validation = trust (ground-truth prevents hallucination)</a:t>
            </a:r>
          </a:p>
          <a:p>
            <a:pPr lvl="1" marL="457200" indent="-228600"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/>
              </a:rPr>
              <a:t>Minimal change principle prevents collateral damage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57250"/>
          </a:xfrm>
          <a:solidFill>
            <a:srgbClr val="1F4E79"/>
          </a:solidFill>
          <a:ln w="0">
            <a:noFill/>
          </a:ln>
        </p:spPr>
        <p:txBody>
          <a:bodyPr anchor="ctr" anchorCtr="0"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200000"/>
            <a:ext cx="8229600" cy="5300000"/>
          </a:xfrm>
        </p:spPr>
        <p:txBody>
          <a:bodyPr/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Status Checker: Extend to performance counters, formal reg verification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Clock Controller: DVFS interactions, ML-based CDC scenario generation</a:t>
            </a:r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AI Agent: Generate testbench code (not just programming sequences)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Multi-agent architecture for specialised generation tasks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Feedback loop: simulation results → improve generation</a:t>
            </a:r>
          </a:p>
          <a:p>
            <a:endParaRPr lang="en-US" sz="1000"/>
          </a:p>
          <a:p>
            <a:pPr marL="228600" indent="-228600"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/>
              </a:rPr>
              <a:t>Broader: AI-assisted verification paradigm shift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Boundary between human judgement and automation continues to shift</a:t>
            </a:r>
          </a:p>
          <a:p>
            <a:pPr lvl="1" marL="457200" indent="-228600">
              <a:buChar char="–"/>
            </a:pPr>
            <a:r>
              <a:rPr lang="en-US" sz="1600" dirty="0">
                <a:solidFill>
                  <a:srgbClr val="333333"/>
                </a:solidFill>
                <a:latin typeface="Calibri"/>
              </a:rPr>
              <a:t>• Applicable across semiconductor industry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1500000"/>
            <a:ext cx="7772400" cy="1470025"/>
          </a:xfrm>
        </p:spPr>
        <p:txBody>
          <a:bodyPr anchor="b"/>
          <a:p>
            <a:r>
              <a:rPr lang="en-US" sz="36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85800" y="3200000"/>
            <a:ext cx="7772400" cy="2800000"/>
          </a:xfrm>
        </p:spPr>
        <p:txBody>
          <a:bodyPr/>
          <a:p>
            <a:r>
              <a:rPr lang="en-US" sz="2000" dirty="0"/>
              <a:t>Reyansh Gahlot | 102206005</a:t>
            </a:r>
          </a:p>
          <a:p>
            <a:r>
              <a:rPr lang="en-US" sz="2000" dirty="0"/>
              <a:t/>
            </a:r>
          </a:p>
          <a:p>
            <a:r>
              <a:rPr lang="en-US" sz="2000" dirty="0"/>
              <a:t>Faculty Mentor: Dr. Amit Mishra (TIET, Patiala)</a:t>
            </a:r>
          </a:p>
          <a:p>
            <a:r>
              <a:rPr lang="en-US" sz="2000" dirty="0"/>
              <a:t>Industry Mentor: Vinod Ramanujam (Arm Ltd., Bangalore)</a:t>
            </a:r>
          </a:p>
          <a:p>
            <a:r>
              <a:rPr lang="en-US" sz="2000" dirty="0"/>
              <a:t/>
            </a:r>
          </a:p>
          <a:p>
            <a:r>
              <a:rPr lang="en-US" sz="2000" dirty="0"/>
              <a:t>Questions?</a:t>
            </a:r>
          </a:p>
        </p:txBody>
      </p:sp>
    </p:spTree>
  </p:cSld>
</p:sld>
</file>